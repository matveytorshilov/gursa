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04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371600"/>
            <a:ext cx="3017520" cy="30105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645920"/>
            <a:ext cx="7772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8000" b="1">
                <a:solidFill>
                  <a:srgbClr val="D4AF37"/>
                </a:solidFill>
                <a:latin typeface="Calibri"/>
              </a:defRPr>
            </a:pPr>
            <a:r>
              <a:t>ГЮРЗА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7772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4400" b="1">
                <a:solidFill>
                  <a:srgbClr val="F5F7FA"/>
                </a:solidFill>
                <a:latin typeface="Calibri"/>
              </a:defRPr>
            </a:pPr>
            <a:r>
              <a:t>Цифровое лицо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29000"/>
            <a:ext cx="7772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4400" b="0">
                <a:solidFill>
                  <a:srgbClr val="F5F7FA"/>
                </a:solidFill>
                <a:latin typeface="Calibri"/>
              </a:defRPr>
            </a:pPr>
            <a:r>
              <a:t>охранной компании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57200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919BAF"/>
                </a:solidFill>
                <a:latin typeface="Calibri"/>
              </a:defRPr>
            </a:pPr>
            <a:r>
              <a:t>Частная охранная организация · Воронеж · с 2011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07492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0D98C"/>
                </a:solidFill>
                <a:latin typeface="Calibri"/>
              </a:defRPr>
            </a:pPr>
            <a:r>
              <a:t>gurza36.ru</a:t>
            </a:r>
          </a:p>
        </p:txBody>
      </p:sp>
    </p:spTree>
  </p:cSld>
  <p:clrMapOvr>
    <a:masterClrMapping/>
  </p:clrMapOvr>
  <p:transition spd="med" advClick="1">
    <p:fadeThroughBlack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11680"/>
            <a:ext cx="2743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12000" b="0">
                <a:solidFill>
                  <a:srgbClr val="D4AF37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5400" b="1">
                <a:solidFill>
                  <a:srgbClr val="F5F7FA"/>
                </a:solidFill>
                <a:latin typeface="Calibri"/>
              </a:defRPr>
            </a:pPr>
            <a:r>
              <a:t>О проекте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75488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919BAF"/>
                </a:solidFill>
                <a:latin typeface="Calibri"/>
              </a:defRPr>
            </a:pPr>
            <a:r>
              <a:t>Суть, миссия и позиционирование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919BAF"/>
                </a:solidFill>
                <a:latin typeface="Calibri"/>
              </a:defRPr>
            </a:pPr>
            <a:r>
              <a:t>Воронеж · 2026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ЧОО «ГЮРЗА»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gurza36.ru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0"/>
          </a:xfrm>
          <a:prstGeom prst="rect">
            <a:avLst/>
          </a:prstGeom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D4AF37"/>
                </a:solidFill>
                <a:latin typeface="Calibri"/>
              </a:defRPr>
            </a:pPr>
            <a:r>
              <a:t>СУТЬ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3800" b="1">
                <a:solidFill>
                  <a:srgbClr val="F5F7FA"/>
                </a:solidFill>
                <a:latin typeface="Calibri"/>
              </a:defRPr>
            </a:pPr>
            <a:r>
              <a:t>Безопасность, проверенная временем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669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F5F7FA"/>
                </a:solidFill>
                <a:latin typeface="Calibri"/>
              </a:defRPr>
            </a:pPr>
            <a:r>
              <a:t>ЧОО «Гюрза» — частная охранная организация в Воронеже и области.</a:t>
            </a:r>
          </a:p>
          <a:p>
            <a:pPr>
              <a:spcAft>
                <a:spcPts val="800"/>
              </a:spcAft>
              <a:defRPr sz="800" b="0">
                <a:solidFill>
                  <a:srgbClr val="F5F7FA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0D98C"/>
                </a:solidFill>
                <a:latin typeface="Calibri"/>
              </a:defRPr>
            </a:pPr>
            <a:r>
              <a:t>Сайт — не визитка ради галочки, а инструмент доверия и продаж.</a:t>
            </a:r>
          </a:p>
          <a:p>
            <a:pPr>
              <a:spcAft>
                <a:spcPts val="800"/>
              </a:spcAft>
              <a:defRPr sz="800" b="0">
                <a:solidFill>
                  <a:srgbClr val="F5F7FA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 b="0">
                <a:solidFill>
                  <a:srgbClr val="919BAF"/>
                </a:solidFill>
                <a:latin typeface="Calibri"/>
              </a:defRPr>
            </a:pPr>
            <a:r>
              <a:t>Клиент за 30 секунд понимает: кто вы, чем сильны, как связаться.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389120"/>
            <a:ext cx="3474720" cy="1417320"/>
          </a:xfrm>
          <a:prstGeom prst="rect">
            <a:avLst/>
          </a:prstGeom>
          <a:solidFill>
            <a:srgbClr val="121824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45262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3600" b="1">
                <a:solidFill>
                  <a:srgbClr val="D4AF37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16635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919BAF"/>
                </a:solidFill>
                <a:latin typeface="Calibri"/>
              </a:defRPr>
            </a:pPr>
            <a:r>
              <a:t>лет на рынке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4389120"/>
            <a:ext cx="3474720" cy="1417320"/>
          </a:xfrm>
          <a:prstGeom prst="rect">
            <a:avLst/>
          </a:prstGeom>
          <a:solidFill>
            <a:srgbClr val="121824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45262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3600" b="1">
                <a:solidFill>
                  <a:srgbClr val="D4AF37"/>
                </a:solidFill>
                <a:latin typeface="Calibri"/>
              </a:defRPr>
            </a:pPr>
            <a: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516635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919BAF"/>
                </a:solidFill>
                <a:latin typeface="Calibri"/>
              </a:defRPr>
            </a:pPr>
            <a:r>
              <a:t>охрана объектов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4389120"/>
            <a:ext cx="3474720" cy="1417320"/>
          </a:xfrm>
          <a:prstGeom prst="rect">
            <a:avLst/>
          </a:prstGeom>
          <a:solidFill>
            <a:srgbClr val="121824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45262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3600" b="1">
                <a:solidFill>
                  <a:srgbClr val="D4AF3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516635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919BAF"/>
                </a:solidFill>
                <a:latin typeface="Calibri"/>
              </a:defRPr>
            </a:pPr>
            <a:r>
              <a:t>направлений услуг</a:t>
            </a:r>
          </a:p>
        </p:txBody>
      </p:sp>
    </p:spTree>
  </p:cSld>
  <p:clrMapOvr>
    <a:masterClrMapping/>
  </p:clrMapOvr>
  <p:transition spd="med" advClick="1">
    <p:fadeThroughBlack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11680"/>
            <a:ext cx="2743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12000" b="0">
                <a:solidFill>
                  <a:srgbClr val="D4AF3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5400" b="1">
                <a:solidFill>
                  <a:srgbClr val="F5F7FA"/>
                </a:solidFill>
                <a:latin typeface="Calibri"/>
              </a:defRPr>
            </a:pPr>
            <a:r>
              <a:t>Что мы делаем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75488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919BAF"/>
                </a:solidFill>
                <a:latin typeface="Calibri"/>
              </a:defRPr>
            </a:pPr>
            <a:r>
              <a:t>Услуги и специализация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919BAF"/>
                </a:solidFill>
                <a:latin typeface="Calibri"/>
              </a:defRPr>
            </a:pPr>
            <a:r>
              <a:t>Воронеж · 2026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ЧОО «ГЮРЗА»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gurza36.ru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0"/>
          </a:xfrm>
          <a:prstGeom prst="rect">
            <a:avLst/>
          </a:prstGeom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D4AF37"/>
                </a:solidFill>
                <a:latin typeface="Calibri"/>
              </a:defRPr>
            </a:pPr>
            <a:r>
              <a:t>УСЛУГИ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486400" cy="1325880"/>
          </a:xfrm>
          <a:prstGeom prst="rect">
            <a:avLst/>
          </a:prstGeom>
          <a:solidFill>
            <a:srgbClr val="121824"/>
          </a:solidFill>
          <a:ln>
            <a:solidFill>
              <a:srgbClr val="3C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64207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D4AF37"/>
                </a:solidFill>
                <a:latin typeface="Calibri"/>
              </a:defRPr>
            </a:pPr>
            <a:r>
              <a:t>Административные здания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1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919BAF"/>
                </a:solidFill>
                <a:latin typeface="Calibri"/>
              </a:defRPr>
            </a:pPr>
            <a:r>
              <a:t>Офисы, бизнес-центры, порядок и безопасность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5486400" cy="1325880"/>
          </a:xfrm>
          <a:prstGeom prst="rect">
            <a:avLst/>
          </a:prstGeom>
          <a:solidFill>
            <a:srgbClr val="121824"/>
          </a:solidFill>
          <a:ln>
            <a:solidFill>
              <a:srgbClr val="3C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64207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D4AF37"/>
                </a:solidFill>
                <a:latin typeface="Calibri"/>
              </a:defRPr>
            </a:pPr>
            <a:r>
              <a:t>Строительные объекты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084831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919BAF"/>
                </a:solidFill>
                <a:latin typeface="Calibri"/>
              </a:defRPr>
            </a:pPr>
            <a:r>
              <a:t>Площадки, техника, материалы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39"/>
            <a:ext cx="5486400" cy="1325880"/>
          </a:xfrm>
          <a:prstGeom prst="rect">
            <a:avLst/>
          </a:prstGeom>
          <a:solidFill>
            <a:srgbClr val="121824"/>
          </a:solidFill>
          <a:ln>
            <a:solidFill>
              <a:srgbClr val="3C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72968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D4AF37"/>
                </a:solidFill>
                <a:latin typeface="Calibri"/>
              </a:defRPr>
            </a:pPr>
            <a:r>
              <a:t>Складские помещения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93591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919BAF"/>
                </a:solidFill>
                <a:latin typeface="Calibri"/>
              </a:defRPr>
            </a:pPr>
            <a:r>
              <a:t>ТМЦ, логистика, сохранность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063239"/>
            <a:ext cx="5486400" cy="1325880"/>
          </a:xfrm>
          <a:prstGeom prst="rect">
            <a:avLst/>
          </a:prstGeom>
          <a:solidFill>
            <a:srgbClr val="121824"/>
          </a:solidFill>
          <a:ln>
            <a:solidFill>
              <a:srgbClr val="3C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172968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D4AF37"/>
                </a:solidFill>
                <a:latin typeface="Calibri"/>
              </a:defRPr>
            </a:pPr>
            <a:r>
              <a:t>Пропускной режим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593591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919BAF"/>
                </a:solidFill>
                <a:latin typeface="Calibri"/>
              </a:defRPr>
            </a:pPr>
            <a:r>
              <a:t>КПП, контроль доступа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72000"/>
            <a:ext cx="5486400" cy="1325880"/>
          </a:xfrm>
          <a:prstGeom prst="rect">
            <a:avLst/>
          </a:prstGeom>
          <a:solidFill>
            <a:srgbClr val="121824"/>
          </a:solidFill>
          <a:ln>
            <a:solidFill>
              <a:srgbClr val="3C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81728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D4AF37"/>
                </a:solidFill>
                <a:latin typeface="Calibri"/>
              </a:defRPr>
            </a:pPr>
            <a:r>
              <a:t>Сельхозпредприятия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0235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919BAF"/>
                </a:solidFill>
                <a:latin typeface="Calibri"/>
              </a:defRPr>
            </a:pPr>
            <a:r>
              <a:t>Зерновые и масличные базы — ключевая специализация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572000"/>
            <a:ext cx="5486400" cy="1325880"/>
          </a:xfrm>
          <a:prstGeom prst="rect">
            <a:avLst/>
          </a:prstGeom>
          <a:solidFill>
            <a:srgbClr val="121824"/>
          </a:solidFill>
          <a:ln>
            <a:solidFill>
              <a:srgbClr val="3C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681728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D4AF37"/>
                </a:solidFill>
                <a:latin typeface="Calibri"/>
              </a:defRPr>
            </a:pPr>
            <a:r>
              <a:t>Анализ угроз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10235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919BAF"/>
                </a:solidFill>
                <a:latin typeface="Calibri"/>
              </a:defRPr>
            </a:pPr>
            <a:r>
              <a:t>Экспертная оценка и система охраны</a:t>
            </a:r>
          </a:p>
        </p:txBody>
      </p:sp>
    </p:spTree>
  </p:cSld>
  <p:clrMapOvr>
    <a:masterClrMapping/>
  </p:clrMapOvr>
  <p:transition spd="med" advClick="1">
    <p:fadeThroughBlack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11680"/>
            <a:ext cx="2743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12000" b="0">
                <a:solidFill>
                  <a:srgbClr val="D4AF3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5400" b="1">
                <a:solidFill>
                  <a:srgbClr val="F5F7FA"/>
                </a:solidFill>
                <a:latin typeface="Calibri"/>
              </a:defRPr>
            </a:pPr>
            <a:r>
              <a:t>Сайт gurza36.ru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75488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919BAF"/>
                </a:solidFill>
                <a:latin typeface="Calibri"/>
              </a:defRPr>
            </a:pPr>
            <a:r>
              <a:t>Дизайн, технологии, скриншоты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919BAF"/>
                </a:solidFill>
                <a:latin typeface="Calibri"/>
              </a:defRPr>
            </a:pPr>
            <a:r>
              <a:t>Воронеж · 2026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ЧОО «ГЮРЗА»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gurza36.ru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0"/>
          </a:xfrm>
          <a:prstGeom prst="rect">
            <a:avLst/>
          </a:prstGeom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3200" b="1">
                <a:solidFill>
                  <a:srgbClr val="D4AF37"/>
                </a:solidFill>
                <a:latin typeface="Calibri"/>
              </a:defRPr>
            </a:pPr>
            <a:r>
              <a:t>Главная страница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919BAF"/>
                </a:solidFill>
                <a:latin typeface="Calibri"/>
              </a:defRPr>
            </a:pPr>
            <a:r>
              <a:t>3D-соты · золотой брендинг · CTA</a:t>
            </a:r>
          </a:p>
        </p:txBody>
      </p:sp>
      <p:pic>
        <p:nvPicPr>
          <p:cNvPr id="8" name="Picture 7" descr="01-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91640"/>
            <a:ext cx="11338560" cy="7086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11480" y="1691640"/>
            <a:ext cx="11338560" cy="4709160"/>
          </a:xfrm>
          <a:prstGeom prst="rect">
            <a:avLst/>
          </a:prstGeom>
          <a:noFill/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ЧОО «ГЮРЗА»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gurza36.ru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0"/>
          </a:xfrm>
          <a:prstGeom prst="rect">
            <a:avLst/>
          </a:prstGeom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3200" b="1">
                <a:solidFill>
                  <a:srgbClr val="D4AF37"/>
                </a:solidFill>
                <a:latin typeface="Calibri"/>
              </a:defRPr>
            </a:pPr>
            <a:r>
              <a:t>О компании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919BAF"/>
                </a:solidFill>
                <a:latin typeface="Calibri"/>
              </a:defRPr>
            </a:pPr>
            <a:r>
              <a:t>История · доверие · специализация на агро</a:t>
            </a:r>
          </a:p>
        </p:txBody>
      </p:sp>
      <p:pic>
        <p:nvPicPr>
          <p:cNvPr id="8" name="Picture 7" descr="02-ab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91640"/>
            <a:ext cx="11338560" cy="7086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11480" y="1691640"/>
            <a:ext cx="11338560" cy="4709160"/>
          </a:xfrm>
          <a:prstGeom prst="rect">
            <a:avLst/>
          </a:prstGeom>
          <a:noFill/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ThroughBlack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ЧОО «ГЮРЗА»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gurza36.ru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0"/>
          </a:xfrm>
          <a:prstGeom prst="rect">
            <a:avLst/>
          </a:prstGeom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3200" b="1">
                <a:solidFill>
                  <a:srgbClr val="D4AF37"/>
                </a:solidFill>
                <a:latin typeface="Calibri"/>
              </a:defRPr>
            </a:pPr>
            <a:r>
              <a:t>Контакты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919BAF"/>
                </a:solidFill>
                <a:latin typeface="Calibri"/>
              </a:defRPr>
            </a:pPr>
            <a:r>
              <a:t>Цифровая визитка директора · прямой набор</a:t>
            </a:r>
          </a:p>
        </p:txBody>
      </p:sp>
      <p:pic>
        <p:nvPicPr>
          <p:cNvPr id="8" name="Picture 7" descr="03-conta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91640"/>
            <a:ext cx="11338560" cy="7086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11480" y="1691640"/>
            <a:ext cx="11338560" cy="4709160"/>
          </a:xfrm>
          <a:prstGeom prst="rect">
            <a:avLst/>
          </a:prstGeom>
          <a:noFill/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ЧОО «ГЮРЗА»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gurza36.ru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0"/>
          </a:xfrm>
          <a:prstGeom prst="rect">
            <a:avLst/>
          </a:prstGeom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3200" b="1">
                <a:solidFill>
                  <a:srgbClr val="D4AF37"/>
                </a:solidFill>
                <a:latin typeface="Calibri"/>
              </a:defRPr>
            </a:pPr>
            <a:r>
              <a:t>Брендинг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919BAF"/>
                </a:solidFill>
                <a:latin typeface="Calibri"/>
              </a:defRPr>
            </a:pPr>
            <a:r>
              <a:t>Золотая сота и змея-гюрза</a:t>
            </a:r>
          </a:p>
        </p:txBody>
      </p:sp>
      <p:pic>
        <p:nvPicPr>
          <p:cNvPr id="8" name="Picture 7" descr="04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91640"/>
            <a:ext cx="11338560" cy="113122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11480" y="1691640"/>
            <a:ext cx="11338560" cy="4709160"/>
          </a:xfrm>
          <a:prstGeom prst="rect">
            <a:avLst/>
          </a:prstGeom>
          <a:noFill/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ThroughBlack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ЧОО «ГЮРЗА»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gurza36.ru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0"/>
          </a:xfrm>
          <a:prstGeom prst="rect">
            <a:avLst/>
          </a:prstGeom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D4AF37"/>
                </a:solidFill>
                <a:latin typeface="Calibri"/>
              </a:defRPr>
            </a:pPr>
            <a:r>
              <a:t>РОЛЬ САЙТА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3600" b="1">
                <a:solidFill>
                  <a:srgbClr val="F5F7FA"/>
                </a:solidFill>
                <a:latin typeface="Calibri"/>
              </a:defRPr>
            </a:pPr>
            <a:r>
              <a:t>Воронка продаж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2468880" cy="822960"/>
          </a:xfrm>
          <a:prstGeom prst="rect">
            <a:avLst/>
          </a:prstGeom>
          <a:solidFill>
            <a:srgbClr val="12182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42316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F5F7FA"/>
                </a:solidFill>
                <a:latin typeface="Calibri"/>
              </a:defRPr>
            </a:pPr>
            <a:r>
              <a:t>Яндекс / Google / 2ГИС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48716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D4AF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286000"/>
            <a:ext cx="2468880" cy="822960"/>
          </a:xfrm>
          <a:prstGeom prst="rect">
            <a:avLst/>
          </a:prstGeom>
          <a:solidFill>
            <a:srgbClr val="28221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42316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0D98C"/>
                </a:solidFill>
                <a:latin typeface="Calibri"/>
              </a:defRPr>
            </a:pPr>
            <a:r>
              <a:t>gurza36.ru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48716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D4AF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286000"/>
            <a:ext cx="2468880" cy="822960"/>
          </a:xfrm>
          <a:prstGeom prst="rect">
            <a:avLst/>
          </a:prstGeom>
          <a:solidFill>
            <a:srgbClr val="12182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F5F7FA"/>
                </a:solidFill>
                <a:latin typeface="Calibri"/>
              </a:defRPr>
            </a:pPr>
            <a:r>
              <a:t>Звонок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48716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D4AF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286000"/>
            <a:ext cx="2468880" cy="822960"/>
          </a:xfrm>
          <a:prstGeom prst="rect">
            <a:avLst/>
          </a:prstGeom>
          <a:solidFill>
            <a:srgbClr val="12182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42316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F5F7FA"/>
                </a:solidFill>
                <a:latin typeface="Calibri"/>
              </a:defRPr>
            </a:pPr>
            <a:r>
              <a:t>Договор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5F7FA"/>
                </a:solidFill>
                <a:latin typeface="Calibri"/>
              </a:defRPr>
            </a:pPr>
            <a:r>
              <a:t>◆  Лицо компании — профессиональный образ 24/7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5F7FA"/>
                </a:solidFill>
                <a:latin typeface="Calibri"/>
              </a:defRPr>
            </a:pPr>
            <a:r>
              <a:t>◆  Единая ссылка для визиток, КП, тендеров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5F7FA"/>
                </a:solidFill>
                <a:latin typeface="Calibri"/>
              </a:defRPr>
            </a:pPr>
            <a:r>
              <a:t>◆  SEO по запросам: «охрана воронеж», «чоо», «охрана складов»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5F7FA"/>
                </a:solidFill>
                <a:latin typeface="Calibri"/>
              </a:defRPr>
            </a:pPr>
            <a:r>
              <a:t>◆  Фильтр клиентов — сразу видно, подходите ли под задачу</a:t>
            </a:r>
          </a:p>
        </p:txBody>
      </p:sp>
    </p:spTree>
  </p:cSld>
  <p:clrMapOvr>
    <a:masterClrMapping/>
  </p:clrMapOvr>
  <p:transition spd="med" advClick="1">
    <p:fadeThroughBlack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ЧОО «ГЮРЗА»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gurza36.ru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0"/>
          </a:xfrm>
          <a:prstGeom prst="rect">
            <a:avLst/>
          </a:prstGeom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D4AF37"/>
                </a:solidFill>
                <a:latin typeface="Calibri"/>
              </a:defRPr>
            </a:pPr>
            <a:r>
              <a:t>ТЕХНОЛОГИИ И SEO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F5F7FA"/>
                </a:solidFill>
                <a:latin typeface="Calibri"/>
              </a:defRPr>
            </a:pPr>
            <a:r>
              <a:t>◆  React 19 · TypeScript · Three.js · Framer Motion · Vercel CDN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F5F7FA"/>
                </a:solidFill>
                <a:latin typeface="Calibri"/>
              </a:defRPr>
            </a:pPr>
            <a:r>
              <a:t>◆  Домен gurza36.ru + SSL · canonical · JSON-LD · robots.txt · sitemap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F5F7FA"/>
                </a:solidFill>
                <a:latin typeface="Calibri"/>
              </a:defRPr>
            </a:pPr>
            <a:r>
              <a:t>◆  Open Graph — красивые превью в Telegram и VK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F5F7FA"/>
                </a:solidFill>
                <a:latin typeface="Calibri"/>
              </a:defRPr>
            </a:pPr>
            <a:r>
              <a:t>◆  Яндекс.Вебмастер + 2ГИС = ускорение индексации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114800"/>
            <a:ext cx="3474720" cy="1417320"/>
          </a:xfrm>
          <a:prstGeom prst="rect">
            <a:avLst/>
          </a:prstGeom>
          <a:solidFill>
            <a:srgbClr val="121824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425196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3600" b="1">
                <a:solidFill>
                  <a:srgbClr val="D4AF37"/>
                </a:solidFill>
                <a:latin typeface="Calibri"/>
              </a:defRPr>
            </a:pPr>
            <a:r>
              <a:t>1–2 мес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8920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919BAF"/>
                </a:solidFill>
                <a:latin typeface="Calibri"/>
              </a:defRPr>
            </a:pPr>
            <a:r>
              <a:t>индекс по бренду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4114800"/>
            <a:ext cx="3474720" cy="1417320"/>
          </a:xfrm>
          <a:prstGeom prst="rect">
            <a:avLst/>
          </a:prstGeom>
          <a:solidFill>
            <a:srgbClr val="121824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25196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3600" b="1">
                <a:solidFill>
                  <a:srgbClr val="D4AF37"/>
                </a:solidFill>
                <a:latin typeface="Calibri"/>
              </a:defRPr>
            </a:pPr>
            <a:r>
              <a:t>3–6 мес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920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919BAF"/>
                </a:solidFill>
                <a:latin typeface="Calibri"/>
              </a:defRPr>
            </a:pPr>
            <a:r>
              <a:t>локальные запросы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4114800"/>
            <a:ext cx="3474720" cy="1417320"/>
          </a:xfrm>
          <a:prstGeom prst="rect">
            <a:avLst/>
          </a:prstGeom>
          <a:solidFill>
            <a:srgbClr val="121824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425196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3600" b="1">
                <a:solidFill>
                  <a:srgbClr val="D4AF37"/>
                </a:solidFill>
                <a:latin typeface="Calibri"/>
              </a:defRPr>
            </a:pPr>
            <a:r>
              <a:t>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48920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919BAF"/>
                </a:solidFill>
                <a:latin typeface="Calibri"/>
              </a:defRPr>
            </a:pPr>
            <a:r>
              <a:t>заявки 24/7</a:t>
            </a:r>
          </a:p>
        </p:txBody>
      </p:sp>
    </p:spTree>
  </p:cSld>
  <p:clrMapOvr>
    <a:masterClrMapping/>
  </p:clrMapOvr>
  <p:transition spd="med" advClick="1">
    <p:fadeThroughBlack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ЧОО «ГЮРЗА»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gurza36.ru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0"/>
          </a:xfrm>
          <a:prstGeom prst="rect">
            <a:avLst/>
          </a:prstGeom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D4AF37"/>
                </a:solidFill>
                <a:latin typeface="Calibri"/>
              </a:defRPr>
            </a:pPr>
            <a:r>
              <a:t>БАЗА КЛИЕНТОВ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3400" b="1">
                <a:solidFill>
                  <a:srgbClr val="F5F7FA"/>
                </a:solidFill>
                <a:latin typeface="Calibri"/>
              </a:defRPr>
            </a:pPr>
            <a:r>
              <a:t>Excel — 125+ компаний Воронежа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5F7FA"/>
                </a:solidFill>
                <a:latin typeface="Calibri"/>
              </a:defRPr>
            </a:pPr>
            <a:r>
              <a:t>◆  Отрасли: стройка, склады, агро, бизнес-центры, логистика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5F7FA"/>
                </a:solidFill>
                <a:latin typeface="Calibri"/>
              </a:defRPr>
            </a:pPr>
            <a:r>
              <a:t>◆  Колонки: компания, телефон, email, приоритет, услуга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5F7FA"/>
                </a:solidFill>
                <a:latin typeface="Calibri"/>
              </a:defRPr>
            </a:pPr>
            <a:r>
              <a:t>◆  Высокий приоритет подсвечен — с чего начать обзвон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5F7FA"/>
                </a:solidFill>
                <a:latin typeface="Calibri"/>
              </a:defRPr>
            </a:pPr>
            <a:r>
              <a:t>◆  Файл: clients-voronezh-gyurza.xlsx</a:t>
            </a:r>
          </a:p>
        </p:txBody>
      </p:sp>
    </p:spTree>
  </p:cSld>
  <p:clrMapOvr>
    <a:masterClrMapping/>
  </p:clrMapOvr>
  <p:transition spd="med" advClick="1">
    <p:fadeThroughBlack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ЧОО «ГЮРЗА»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gurza36.ru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0"/>
          </a:xfrm>
          <a:prstGeom prst="rect">
            <a:avLst/>
          </a:prstGeom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D4AF37"/>
                </a:solidFill>
                <a:latin typeface="Calibri"/>
              </a:defRPr>
            </a:pPr>
            <a:r>
              <a:t>ДОРОЖНАЯ КАРТА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3474720" cy="4114800"/>
          </a:xfrm>
          <a:prstGeom prst="rect">
            <a:avLst/>
          </a:prstGeom>
          <a:solidFill>
            <a:srgbClr val="12182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373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D4AF37"/>
                </a:solidFill>
                <a:latin typeface="Calibri"/>
              </a:defRPr>
            </a:pPr>
            <a:r>
              <a:t>Сейчас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3200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  <a:spcAft>
                <a:spcPts val="600"/>
              </a:spcAft>
              <a:defRPr sz="1500">
                <a:solidFill>
                  <a:srgbClr val="F5F7FA"/>
                </a:solidFill>
                <a:latin typeface="Calibri"/>
              </a:defRPr>
            </a:pPr>
            <a:r>
              <a:t>◆  Сайт live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500">
                <a:solidFill>
                  <a:srgbClr val="F5F7FA"/>
                </a:solidFill>
                <a:latin typeface="Calibri"/>
              </a:defRPr>
            </a:pPr>
            <a:r>
              <a:t>◆  SEO готово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500">
                <a:solidFill>
                  <a:srgbClr val="F5F7FA"/>
                </a:solidFill>
                <a:latin typeface="Calibri"/>
              </a:defRPr>
            </a:pPr>
            <a:r>
              <a:t>◆  База Excel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3474720" cy="4114800"/>
          </a:xfrm>
          <a:prstGeom prst="rect">
            <a:avLst/>
          </a:prstGeom>
          <a:solidFill>
            <a:srgbClr val="12182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D4AF37"/>
                </a:solidFill>
                <a:latin typeface="Calibri"/>
              </a:defRPr>
            </a:pPr>
            <a:r>
              <a:t>Неделя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86000"/>
            <a:ext cx="3200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  <a:spcAft>
                <a:spcPts val="600"/>
              </a:spcAft>
              <a:defRPr sz="1500">
                <a:solidFill>
                  <a:srgbClr val="F5F7FA"/>
                </a:solidFill>
                <a:latin typeface="Calibri"/>
              </a:defRPr>
            </a:pPr>
            <a:r>
              <a:t>◆  Яндекс.Вебмастер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500">
                <a:solidFill>
                  <a:srgbClr val="F5F7FA"/>
                </a:solidFill>
                <a:latin typeface="Calibri"/>
              </a:defRPr>
            </a:pPr>
            <a:r>
              <a:t>◆  2ГИС / Я.Бизнес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500">
                <a:solidFill>
                  <a:srgbClr val="F5F7FA"/>
                </a:solidFill>
                <a:latin typeface="Calibri"/>
              </a:defRPr>
            </a:pPr>
            <a:r>
              <a:t>◆  Обзвон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59" y="1554480"/>
            <a:ext cx="3474720" cy="4114800"/>
          </a:xfrm>
          <a:prstGeom prst="rect">
            <a:avLst/>
          </a:prstGeom>
          <a:solidFill>
            <a:srgbClr val="12182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9" y="17373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D4AF37"/>
                </a:solidFill>
                <a:latin typeface="Calibri"/>
              </a:defRPr>
            </a:pPr>
            <a:r>
              <a:t>Месяц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286000"/>
            <a:ext cx="3200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  <a:spcAft>
                <a:spcPts val="600"/>
              </a:spcAft>
              <a:defRPr sz="1500">
                <a:solidFill>
                  <a:srgbClr val="F5F7FA"/>
                </a:solidFill>
                <a:latin typeface="Calibri"/>
              </a:defRPr>
            </a:pPr>
            <a:r>
              <a:t>◆  SEO-позиции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500">
                <a:solidFill>
                  <a:srgbClr val="F5F7FA"/>
                </a:solidFill>
                <a:latin typeface="Calibri"/>
              </a:defRPr>
            </a:pPr>
            <a:r>
              <a:t>◆  Отзывы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500">
                <a:solidFill>
                  <a:srgbClr val="F5F7FA"/>
                </a:solidFill>
                <a:latin typeface="Calibri"/>
              </a:defRPr>
            </a:pPr>
            <a:r>
              <a:t>◆  150+ клиентов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04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731520"/>
            <a:ext cx="2377440" cy="23719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926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400"/>
              </a:spcAft>
              <a:defRPr sz="4800" b="1">
                <a:solidFill>
                  <a:srgbClr val="D4AF37"/>
                </a:solidFill>
                <a:latin typeface="Calibri"/>
              </a:defRPr>
            </a:pPr>
            <a:r>
              <a:t>ЧОО «Гюрза»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49039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400"/>
              </a:spcAft>
              <a:defRPr sz="2400" b="1">
                <a:solidFill>
                  <a:srgbClr val="F0D98C"/>
                </a:solidFill>
                <a:latin typeface="Calibri"/>
              </a:defRPr>
            </a:pPr>
            <a:r>
              <a:t>gurza36.ru</a:t>
            </a:r>
          </a:p>
          <a:p>
            <a:pPr>
              <a:spcAft>
                <a:spcPts val="800"/>
              </a:spcAft>
              <a:defRPr sz="1800" b="0">
                <a:solidFill>
                  <a:srgbClr val="F5F7FA"/>
                </a:solidFill>
                <a:latin typeface="Calibri"/>
              </a:defRPr>
            </a:pPr>
            <a:r>
              <a:t>+7 (473) 278-51-47  ·  +7 (900) 954-43-12</a:t>
            </a:r>
          </a:p>
          <a:p>
            <a:pPr>
              <a:spcAft>
                <a:spcPts val="800"/>
              </a:spcAft>
              <a:defRPr sz="1800" b="0">
                <a:solidFill>
                  <a:srgbClr val="F5F7FA"/>
                </a:solidFill>
                <a:latin typeface="Calibri"/>
              </a:defRPr>
            </a:pPr>
            <a:r>
              <a:t>mike1592@yandex.ru</a:t>
            </a:r>
          </a:p>
          <a:p>
            <a:pPr>
              <a:spcAft>
                <a:spcPts val="800"/>
              </a:spcAft>
              <a:defRPr sz="1600" b="0">
                <a:solidFill>
                  <a:srgbClr val="919BAF"/>
                </a:solidFill>
                <a:latin typeface="Calibri"/>
              </a:defRPr>
            </a:pPr>
            <a:r>
              <a:t>394016, г. Воронеж, ул. Солнечная, 17/1, офис 4</a:t>
            </a:r>
          </a:p>
        </p:txBody>
      </p:sp>
    </p:spTree>
  </p:cSld>
  <p:clrMapOvr>
    <a:masterClrMapping/>
  </p:clrMapOvr>
  <p:transition spd="med" advClick="1">
    <p:fadeThroughBlack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