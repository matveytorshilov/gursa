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D4AF37"/>
                </a:solidFill>
              </a:defRPr>
            </a:pPr>
            <a:r>
              <a:t>ГЮРЗА</a:t>
            </a:r>
          </a:p>
          <a:p>
            <a:pPr>
              <a:defRPr sz="3600">
                <a:solidFill>
                  <a:srgbClr val="EEF1F6"/>
                </a:solidFill>
              </a:defRPr>
            </a:pPr>
            <a:r>
              <a:t>Цифровое лицо компании</a:t>
            </a:r>
          </a:p>
          <a:p>
            <a:pPr>
              <a:defRPr sz="1800">
                <a:solidFill>
                  <a:srgbClr val="9AA3B5"/>
                </a:solidFill>
              </a:defRPr>
            </a:pPr>
            <a:r>
              <a:t>ЧОО «Гюрза» · Воронеж · gurza36.ru</a:t>
            </a:r>
          </a:p>
        </p:txBody>
      </p:sp>
      <p:pic>
        <p:nvPicPr>
          <p:cNvPr id="4" name="Picture 3" descr="04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463040"/>
            <a:ext cx="2926080" cy="29192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О ГЛАВНОМ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EF1F6"/>
                </a:solidFill>
              </a:defRPr>
            </a:pPr>
            <a:r>
              <a:t>Суть проекта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EF1F6"/>
                </a:solidFill>
              </a:defRPr>
            </a:pPr>
            <a:r>
              <a:t>ЧОО «Гюрза» — частная охранная организация с 2011 года</a:t>
            </a:r>
          </a:p>
          <a:p>
            <a:pPr>
              <a:spcAft>
                <a:spcPts val="1000"/>
              </a:spcAft>
              <a:defRPr sz="2000">
                <a:solidFill>
                  <a:srgbClr val="EEF1F6"/>
                </a:solidFill>
              </a:defRPr>
            </a:pPr>
            <a:r>
              <a:t>Охрана административных зданий, строек, складов, агропредприятий</a:t>
            </a:r>
          </a:p>
          <a:p>
            <a:pPr>
              <a:spcAft>
                <a:spcPts val="1000"/>
              </a:spcAft>
              <a:defRPr sz="2000">
                <a:solidFill>
                  <a:srgbClr val="EEF1F6"/>
                </a:solidFill>
              </a:defRPr>
            </a:pPr>
            <a:r>
              <a:t>Сайт — инструмент доверия и продаж: клиент за 30 секунд понимает, кто вы и как связаться</a:t>
            </a:r>
          </a:p>
          <a:p>
            <a:pPr>
              <a:spcAft>
                <a:spcPts val="1000"/>
              </a:spcAft>
              <a:defRPr sz="2000">
                <a:solidFill>
                  <a:srgbClr val="EEF1F6"/>
                </a:solidFill>
              </a:defRPr>
            </a:pPr>
            <a:r>
              <a:t>15+ лет на рынке · 24/7 · 6 направлений услуг · Воронеж и область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ЧТО МЫ ДЕЛАЕМ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EF1F6"/>
                </a:solidFill>
              </a:defRPr>
            </a:pPr>
            <a:r>
              <a:t>Услуги на сайте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Административные здания — офисы, бизнес-центры</a:t>
            </a:r>
          </a:p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Строительные объекты — площадки, техника, материалы</a:t>
            </a:r>
          </a:p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Складские помещения — ТМЦ, логистика</a:t>
            </a:r>
          </a:p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Пропускной режим — КПП, контроль доступа</a:t>
            </a:r>
          </a:p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Сельхозпредприятия — зерновые и масличные базы (специализация)</a:t>
            </a:r>
          </a:p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Анализ угроз — экспертная оценка объекта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РОЛЬ САЙТА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EF1F6"/>
                </a:solidFill>
              </a:defRPr>
            </a:pPr>
            <a:r>
              <a:t>Зачем он бизнесу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EF1F6"/>
                </a:solidFill>
              </a:defRPr>
            </a:pPr>
            <a:r>
              <a:t>Поиск (Яндекс / Google / 2ГИС) → gurza36.ru → звонок → договор</a:t>
            </a:r>
          </a:p>
          <a:p>
            <a:pPr>
              <a:spcAft>
                <a:spcPts val="1000"/>
              </a:spcAft>
              <a:defRPr sz="2000">
                <a:solidFill>
                  <a:srgbClr val="EEF1F6"/>
                </a:solidFill>
              </a:defRPr>
            </a:pPr>
            <a:r>
              <a:t>Лицо компании — профессиональный образ вместо «просто телефона в 2ГИС»</a:t>
            </a:r>
          </a:p>
          <a:p>
            <a:pPr>
              <a:spcAft>
                <a:spcPts val="1000"/>
              </a:spcAft>
              <a:defRPr sz="2000">
                <a:solidFill>
                  <a:srgbClr val="EEF1F6"/>
                </a:solidFill>
              </a:defRPr>
            </a:pPr>
            <a:r>
              <a:t>Круглосуточная витрина — работает, пока офис спит</a:t>
            </a:r>
          </a:p>
          <a:p>
            <a:pPr>
              <a:spcAft>
                <a:spcPts val="1000"/>
              </a:spcAft>
              <a:defRPr sz="2000">
                <a:solidFill>
                  <a:srgbClr val="EEF1F6"/>
                </a:solidFill>
              </a:defRPr>
            </a:pPr>
            <a:r>
              <a:t>Единая ссылка для визиток, КП, тендеров и соцсетей</a:t>
            </a:r>
          </a:p>
          <a:p>
            <a:pPr>
              <a:spcAft>
                <a:spcPts val="1000"/>
              </a:spcAft>
              <a:defRPr sz="2000">
                <a:solidFill>
                  <a:srgbClr val="EEF1F6"/>
                </a:solidFill>
              </a:defRPr>
            </a:pPr>
            <a:r>
              <a:t>SEO-магнит по запросам: «охрана воронеж», «чоо», «охрана складов»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ГЛАВНАЯ СТРАНИЦА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EF1F6"/>
                </a:solidFill>
              </a:defRPr>
            </a:pPr>
            <a:r>
              <a:t>Первое впечатление</a:t>
            </a:r>
          </a:p>
        </p:txBody>
      </p:sp>
      <p:pic>
        <p:nvPicPr>
          <p:cNvPr id="5" name="Picture 4" descr="01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6800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О КОМПАНИИ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EF1F6"/>
                </a:solidFill>
              </a:defRPr>
            </a:pPr>
            <a:r>
              <a:t>История и специализация</a:t>
            </a:r>
          </a:p>
        </p:txBody>
      </p:sp>
      <p:pic>
        <p:nvPicPr>
          <p:cNvPr id="5" name="Picture 4" descr="02-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68008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КОНТАКТЫ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EF1F6"/>
                </a:solidFill>
              </a:defRPr>
            </a:pPr>
            <a:r>
              <a:t>Визитка и CTA</a:t>
            </a:r>
          </a:p>
        </p:txBody>
      </p:sp>
      <p:pic>
        <p:nvPicPr>
          <p:cNvPr id="5" name="Picture 4" descr="03-cont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68008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БРЕНДИНГ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EF1F6"/>
                </a:solidFill>
              </a:defRPr>
            </a:pPr>
            <a:r>
              <a:t>Логотип и фирменный стиль</a:t>
            </a:r>
          </a:p>
        </p:txBody>
      </p:sp>
      <p:pic>
        <p:nvPicPr>
          <p:cNvPr id="5" name="Picture 4" descr="04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114800" cy="4105253"/>
          </a:xfrm>
          <a:prstGeom prst="rect">
            <a:avLst/>
          </a:prstGeom>
        </p:spPr>
      </p:pic>
      <p:pic>
        <p:nvPicPr>
          <p:cNvPr id="6" name="Picture 5" descr="01-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71600"/>
            <a:ext cx="621792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3035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EF1F6"/>
                </a:solidFill>
              </a:defRPr>
            </a:pPr>
            <a:r>
              <a:t>Золотая сота + змея-гюрза — символ контроля и реакции</a:t>
            </a:r>
          </a:p>
          <a:p>
            <a:pPr>
              <a:spcAft>
                <a:spcPts val="1000"/>
              </a:spcAft>
              <a:defRPr sz="1600">
                <a:solidFill>
                  <a:srgbClr val="EEF1F6"/>
                </a:solidFill>
              </a:defRPr>
            </a:pPr>
            <a:r>
              <a:t>Тёмная премиальная палитра — выделяет среди конкурентов</a:t>
            </a:r>
          </a:p>
          <a:p>
            <a:pPr>
              <a:spcAft>
                <a:spcPts val="1000"/>
              </a:spcAft>
              <a:defRPr sz="1600">
                <a:solidFill>
                  <a:srgbClr val="EEF1F6"/>
                </a:solidFill>
              </a:defRPr>
            </a:pPr>
            <a:r>
              <a:t>3D-соты, анимации, адаптив под мобильные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ПОТЕНЦИАЛ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EF1F6"/>
                </a:solidFill>
              </a:defRPr>
            </a:pPr>
            <a:r>
              <a:t>Куда может вырасти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1–2 мес: индексация по бренду «Гюрза» в Яндексе и Google</a:t>
            </a:r>
          </a:p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3–6 мес: запросы «охрана воронеж», «чоо воронеж»</a:t>
            </a:r>
          </a:p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Заявки 24/7 без участия менеджера</a:t>
            </a:r>
          </a:p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B2B: КП, тендеры, обзвон по базе Excel (125+ компаний)</a:t>
            </a:r>
          </a:p>
          <a:p>
            <a:pPr>
              <a:spcAft>
                <a:spcPts val="1000"/>
              </a:spcAft>
              <a:defRPr sz="1800">
                <a:solidFill>
                  <a:srgbClr val="EEF1F6"/>
                </a:solidFill>
              </a:defRPr>
            </a:pPr>
            <a:r>
              <a:t>Яндекс.Бизнес + 2ГИС + отзывы = локальный топ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3200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D4AF37"/>
                </a:solidFill>
              </a:defRPr>
            </a:pPr>
            <a:r>
              <a:t>gurza36.ru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КОНТАКТЫ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EF1F6"/>
                </a:solidFill>
              </a:defRPr>
            </a:pPr>
            <a:r>
              <a:t>ЧОО «Гюрза»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EEF1F6"/>
                </a:solidFill>
              </a:defRPr>
            </a:pPr>
            <a:r>
              <a:t>Сайт: gurza36.ru</a:t>
            </a:r>
          </a:p>
          <a:p>
            <a:pPr>
              <a:spcAft>
                <a:spcPts val="1000"/>
              </a:spcAft>
              <a:defRPr sz="2200">
                <a:solidFill>
                  <a:srgbClr val="EEF1F6"/>
                </a:solidFill>
              </a:defRPr>
            </a:pPr>
            <a:r>
              <a:t>Тел: +7 (473) 278-51-47 · +7 (900) 954-43-12</a:t>
            </a:r>
          </a:p>
          <a:p>
            <a:pPr>
              <a:spcAft>
                <a:spcPts val="1000"/>
              </a:spcAft>
              <a:defRPr sz="2200">
                <a:solidFill>
                  <a:srgbClr val="EEF1F6"/>
                </a:solidFill>
              </a:defRPr>
            </a:pPr>
            <a:r>
              <a:t>Email: mike1592@yandex.ru</a:t>
            </a:r>
          </a:p>
          <a:p>
            <a:pPr>
              <a:spcAft>
                <a:spcPts val="1000"/>
              </a:spcAft>
              <a:defRPr sz="2200">
                <a:solidFill>
                  <a:srgbClr val="EEF1F6"/>
                </a:solidFill>
              </a:defRPr>
            </a:pPr>
            <a:r>
              <a:t>Адрес: 394016, г. Воронеж, ул. Солнечная, 17/1, офис 4</a:t>
            </a:r>
          </a:p>
          <a:p>
            <a:pPr>
              <a:spcAft>
                <a:spcPts val="1000"/>
              </a:spcAft>
              <a:defRPr sz="2200">
                <a:solidFill>
                  <a:srgbClr val="EEF1F6"/>
                </a:solidFill>
              </a:defRPr>
            </a:pPr>
            <a:r>
              <a:t>Директор: Самофалов Михаил Иванович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