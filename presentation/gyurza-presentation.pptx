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04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371600"/>
            <a:ext cx="3017520" cy="3010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645920"/>
            <a:ext cx="7772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8000" b="1">
                <a:solidFill>
                  <a:srgbClr val="D4AF37"/>
                </a:solidFill>
                <a:latin typeface="Calibri"/>
              </a:defRPr>
            </a:pPr>
            <a:r>
              <a:t>ГЮРЗА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43200"/>
            <a:ext cx="7772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4400" b="1">
                <a:solidFill>
                  <a:srgbClr val="F5F7FA"/>
                </a:solidFill>
                <a:latin typeface="Calibri"/>
              </a:defRPr>
            </a:pPr>
            <a:r>
              <a:t>Частная охранная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29000"/>
            <a:ext cx="7772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4400" b="0">
                <a:solidFill>
                  <a:srgbClr val="F5F7FA"/>
                </a:solidFill>
                <a:latin typeface="Calibri"/>
              </a:defRPr>
            </a:pPr>
            <a:r>
              <a:t>организация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57200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919BAF"/>
                </a:solidFill>
                <a:latin typeface="Calibri"/>
              </a:defRPr>
            </a:pPr>
            <a:r>
              <a:t>Воронеж и Воронежская область · с 2011 года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07492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1">
                <a:solidFill>
                  <a:srgbClr val="F0D98C"/>
                </a:solidFill>
                <a:latin typeface="Calibri"/>
              </a:defRPr>
            </a:pPr>
            <a:r>
              <a:t>Безопасность, проверенная временем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011680"/>
            <a:ext cx="2743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12000" b="0">
                <a:solidFill>
                  <a:srgbClr val="D4AF37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5400" b="1">
                <a:solidFill>
                  <a:srgbClr val="F5F7FA"/>
                </a:solidFill>
                <a:latin typeface="Calibri"/>
              </a:defRPr>
            </a:pPr>
            <a:r>
              <a:t>О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475488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200" b="0">
                <a:solidFill>
                  <a:srgbClr val="919BAF"/>
                </a:solidFill>
                <a:latin typeface="Calibri"/>
              </a:defRPr>
            </a:pPr>
            <a:r>
              <a:t>Кто мы и чем занимаемся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919BAF"/>
                </a:solidFill>
                <a:latin typeface="Calibri"/>
              </a:defRPr>
            </a:pPr>
            <a:r>
              <a:t>Воронеж · 2026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8368"/>
            <a:ext cx="11155680" cy="0"/>
          </a:xfrm>
          <a:prstGeom prst="rect">
            <a:avLst/>
          </a:prstGeom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О КОМПАНИИ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400" b="1">
                <a:solidFill>
                  <a:srgbClr val="F5F7FA"/>
                </a:solidFill>
                <a:latin typeface="Calibri"/>
              </a:defRPr>
            </a:pPr>
            <a:r>
              <a:t>Работаем с 2011 года — и знаем цену доверию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ООО ЧОО «Гюрза» оказывает услуги частной охраны высокого качества</a:t>
            </a:r>
          </a:p>
          <a:p>
            <a:pPr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по доступным ценам — для физических и юридических лиц.</a:t>
            </a:r>
          </a:p>
          <a:p>
            <a:pPr>
              <a:spcAft>
                <a:spcPts val="800"/>
              </a:spcAft>
              <a:defRPr sz="800" b="0">
                <a:solidFill>
                  <a:srgbClr val="F5F7FA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919BAF"/>
                </a:solidFill>
                <a:latin typeface="Calibri"/>
              </a:defRPr>
            </a:pPr>
            <a:r>
              <a:t>Разовые задачи и долгосрочные договоры. Воронеж и область.</a:t>
            </a:r>
          </a:p>
          <a:p>
            <a:pPr>
              <a:spcAft>
                <a:spcPts val="800"/>
              </a:spcAft>
              <a:defRPr sz="800" b="0">
                <a:solidFill>
                  <a:srgbClr val="F5F7FA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 b="1">
                <a:solidFill>
                  <a:srgbClr val="F0D98C"/>
                </a:solidFill>
                <a:latin typeface="Calibri"/>
              </a:defRPr>
            </a:pPr>
            <a:r>
              <a:t>Гюрза — символ молниеносной реакции и абсолютного контроля территории.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572000"/>
            <a:ext cx="3474720" cy="1417320"/>
          </a:xfrm>
          <a:prstGeom prst="rect">
            <a:avLst/>
          </a:prstGeom>
          <a:solidFill>
            <a:srgbClr val="121824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4709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2011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349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год основания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572000"/>
            <a:ext cx="3474720" cy="1417320"/>
          </a:xfrm>
          <a:prstGeom prst="rect">
            <a:avLst/>
          </a:prstGeom>
          <a:solidFill>
            <a:srgbClr val="121824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4709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24/7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5349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охрана объектов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572000"/>
            <a:ext cx="3474720" cy="1417320"/>
          </a:xfrm>
          <a:prstGeom prst="rect">
            <a:avLst/>
          </a:prstGeom>
          <a:solidFill>
            <a:srgbClr val="121824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9" y="4709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5349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опытные специалисты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011680"/>
            <a:ext cx="2743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12000" b="0">
                <a:solidFill>
                  <a:srgbClr val="D4AF3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5400" b="1">
                <a:solidFill>
                  <a:srgbClr val="F5F7FA"/>
                </a:solidFill>
                <a:latin typeface="Calibri"/>
              </a:defRPr>
            </a:pPr>
            <a:r>
              <a:t>Услуги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475488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200" b="0">
                <a:solidFill>
                  <a:srgbClr val="919BAF"/>
                </a:solidFill>
                <a:latin typeface="Calibri"/>
              </a:defRPr>
            </a:pPr>
            <a:r>
              <a:t>Что мы охраняем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919BAF"/>
                </a:solidFill>
                <a:latin typeface="Calibri"/>
              </a:defRPr>
            </a:pPr>
            <a:r>
              <a:t>Воронеж · 2026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8368"/>
            <a:ext cx="11155680" cy="0"/>
          </a:xfrm>
          <a:prstGeom prst="rect">
            <a:avLst/>
          </a:prstGeom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УСЛУГИ ПОД КЛЮЧ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64207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Административные здания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84831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Офисы, бизнес-центры, порядок и безопасность персонала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64207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Строительные объекты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084831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Площадки, техника, материалы на всех этапах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63239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Складские помещения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93591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ТМЦ, логистика, сохранность грузов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063239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60" y="3172968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Пропускной режим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593591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КПП, контроль доступа, внутриобъектовый режим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572000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681728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Сельхозпредприятия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0235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Зерновые и масличные базы — наша специализация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572000"/>
            <a:ext cx="5486400" cy="1325880"/>
          </a:xfrm>
          <a:prstGeom prst="rect">
            <a:avLst/>
          </a:prstGeom>
          <a:solidFill>
            <a:srgbClr val="121824"/>
          </a:solidFill>
          <a:ln>
            <a:solidFill>
              <a:srgbClr val="3C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4681728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1">
                <a:solidFill>
                  <a:srgbClr val="D4AF37"/>
                </a:solidFill>
                <a:latin typeface="Calibri"/>
              </a:defRPr>
            </a:pPr>
            <a:r>
              <a:t>Анализ угроз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5102352"/>
            <a:ext cx="51206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Оценка объекта и индивидуальная система охраны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011680"/>
            <a:ext cx="2743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12000" b="0">
                <a:solidFill>
                  <a:srgbClr val="D4AF37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5400" b="1">
                <a:solidFill>
                  <a:srgbClr val="F5F7FA"/>
                </a:solidFill>
                <a:latin typeface="Calibri"/>
              </a:defRPr>
            </a:pPr>
            <a:r>
              <a:t>Преимущества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475488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200" b="0">
                <a:solidFill>
                  <a:srgbClr val="919BAF"/>
                </a:solidFill>
                <a:latin typeface="Calibri"/>
              </a:defRPr>
            </a:pPr>
            <a:r>
              <a:t>Почему выбирают нас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919BAF"/>
                </a:solidFill>
                <a:latin typeface="Calibri"/>
              </a:defRPr>
            </a:pPr>
            <a:r>
              <a:t>Воронеж · 2026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8368"/>
            <a:ext cx="11155680" cy="0"/>
          </a:xfrm>
          <a:prstGeom prst="rect">
            <a:avLst/>
          </a:prstGeom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ПРЕИМУЩЕСТВА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200" b="1">
                <a:solidFill>
                  <a:srgbClr val="F5F7FA"/>
                </a:solidFill>
                <a:latin typeface="Calibri"/>
              </a:defRPr>
            </a:pPr>
            <a:r>
              <a:t>Сотрудничая с нами, вы получаете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3474720" cy="1417320"/>
          </a:xfrm>
          <a:prstGeom prst="rect">
            <a:avLst/>
          </a:prstGeom>
          <a:solidFill>
            <a:srgbClr val="121824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423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15+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63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лет на рынке охранных услуг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2286000"/>
            <a:ext cx="3474720" cy="1417320"/>
          </a:xfrm>
          <a:prstGeom prst="rect">
            <a:avLst/>
          </a:prstGeom>
          <a:solidFill>
            <a:srgbClr val="121824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423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063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специалисты высокого класса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2286000"/>
            <a:ext cx="3474720" cy="1417320"/>
          </a:xfrm>
          <a:prstGeom prst="rect">
            <a:avLst/>
          </a:prstGeom>
          <a:solidFill>
            <a:srgbClr val="121824"/>
          </a:solidFill>
          <a:ln w="63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242316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D4AF37"/>
                </a:solidFill>
                <a:latin typeface="Calibri"/>
              </a:defRPr>
            </a:pPr>
            <a:r>
              <a:t>24/7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30632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919BAF"/>
                </a:solidFill>
                <a:latin typeface="Calibri"/>
              </a:defRPr>
            </a:pPr>
            <a:r>
              <a:t>непрерывная охрана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93192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◆  Любой бюджет — от экономного до высокобюджетного решения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◆  Индивидуальный подход к каждому объекту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◆  Оперативная реакция и чёткий контроль территории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◆  Профессиональная оценка рисков перед началом работы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8368"/>
            <a:ext cx="11155680" cy="0"/>
          </a:xfrm>
          <a:prstGeom prst="rect">
            <a:avLst/>
          </a:prstGeom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СПЕЦИАЛИЗАЦИЯ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400" b="1">
                <a:solidFill>
                  <a:srgbClr val="F5F7FA"/>
                </a:solidFill>
                <a:latin typeface="Calibri"/>
              </a:defRPr>
            </a:pPr>
            <a:r>
              <a:t>Охрана агропредприятий и зерновых баз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943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Особая компетенция — охрана сельхозпредприятий и баз</a:t>
            </a:r>
          </a:p>
          <a:p>
            <a:pPr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по приёмке, подработке, хранению и отпуску</a:t>
            </a:r>
          </a:p>
          <a:p>
            <a:pPr>
              <a:spcAft>
                <a:spcPts val="800"/>
              </a:spcAft>
              <a:defRPr sz="1800" b="1">
                <a:solidFill>
                  <a:srgbClr val="F0D98C"/>
                </a:solidFill>
                <a:latin typeface="Calibri"/>
              </a:defRPr>
            </a:pPr>
            <a:r>
              <a:t>зерновых и масличной продукции.</a:t>
            </a:r>
          </a:p>
          <a:p>
            <a:pPr>
              <a:spcAft>
                <a:spcPts val="800"/>
              </a:spcAft>
              <a:defRPr sz="1000" b="0">
                <a:solidFill>
                  <a:srgbClr val="F5F7FA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919BAF"/>
                </a:solidFill>
                <a:latin typeface="Calibri"/>
              </a:defRPr>
            </a:pPr>
            <a:r>
              <a:t>Понимаем специфику сезонных рисков, логистики и</a:t>
            </a:r>
          </a:p>
          <a:p>
            <a:pPr>
              <a:spcAft>
                <a:spcPts val="800"/>
              </a:spcAft>
              <a:defRPr sz="1700" b="0">
                <a:solidFill>
                  <a:srgbClr val="919BAF"/>
                </a:solidFill>
                <a:latin typeface="Calibri"/>
              </a:defRPr>
            </a:pPr>
            <a:r>
              <a:t>сохранности урожая — работаем точечно под задачу.</a:t>
            </a:r>
          </a:p>
        </p:txBody>
      </p:sp>
      <p:pic>
        <p:nvPicPr>
          <p:cNvPr id="9" name="Picture 8" descr="02-ab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45920"/>
            <a:ext cx="5029200" cy="3143250"/>
          </a:xfrm>
          <a:prstGeom prst="rect">
            <a:avLst/>
          </a:prstGeom>
        </p:spPr>
      </p:pic>
    </p:spTree>
  </p:cSld>
  <p:clrMapOvr>
    <a:masterClrMapping/>
  </p:clrMapOvr>
  <p:transition spd="med" advClick="1">
    <p:fadeThroughBlack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8368"/>
            <a:ext cx="11155680" cy="0"/>
          </a:xfrm>
          <a:prstGeom prst="rect">
            <a:avLst/>
          </a:prstGeom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ГЕОГРАФИЯ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F5F7FA"/>
                </a:solidFill>
                <a:latin typeface="Calibri"/>
              </a:defRPr>
            </a:pPr>
            <a:r>
              <a:t>Воронеж и Воронежская область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  <a:spcAft>
                <a:spcPts val="600"/>
              </a:spcAft>
              <a:defRPr sz="1900">
                <a:solidFill>
                  <a:srgbClr val="F5F7FA"/>
                </a:solidFill>
                <a:latin typeface="Calibri"/>
              </a:defRPr>
            </a:pPr>
            <a:r>
              <a:t>◆  Административные и офисные здания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900">
                <a:solidFill>
                  <a:srgbClr val="F5F7FA"/>
                </a:solidFill>
                <a:latin typeface="Calibri"/>
              </a:defRPr>
            </a:pPr>
            <a:r>
              <a:t>◆  Строительные площадки и объекты на всех стадиях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900">
                <a:solidFill>
                  <a:srgbClr val="F5F7FA"/>
                </a:solidFill>
                <a:latin typeface="Calibri"/>
              </a:defRPr>
            </a:pPr>
            <a:r>
              <a:t>◆  Склады, логистические и производственные комплексы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900">
                <a:solidFill>
                  <a:srgbClr val="F5F7FA"/>
                </a:solidFill>
                <a:latin typeface="Calibri"/>
              </a:defRPr>
            </a:pPr>
            <a:r>
              <a:t>◆  Сельхозпредприятия, элеваторы, зерновые базы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900">
                <a:solidFill>
                  <a:srgbClr val="F5F7FA"/>
                </a:solidFill>
                <a:latin typeface="Calibri"/>
              </a:defRPr>
            </a:pPr>
            <a:r>
              <a:t>◆  Объекты с пропускным и внутриобъектовым режимом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8368"/>
            <a:ext cx="11155680" cy="0"/>
          </a:xfrm>
          <a:prstGeom prst="rect">
            <a:avLst/>
          </a:prstGeom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КОНТАКТЫ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F5F7FA"/>
                </a:solidFill>
                <a:latin typeface="Calibri"/>
              </a:defRPr>
            </a:pPr>
            <a:r>
              <a:t>Связаться с нами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303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919BAF"/>
                </a:solidFill>
                <a:latin typeface="Calibri"/>
              </a:defRPr>
            </a:pPr>
            <a:r>
              <a:t>Официальный сайт:</a:t>
            </a:r>
          </a:p>
          <a:p>
            <a:pPr>
              <a:spcAft>
                <a:spcPts val="1400"/>
              </a:spcAft>
              <a:defRPr sz="2800" b="1">
                <a:solidFill>
                  <a:srgbClr val="F0D98C"/>
                </a:solidFill>
                <a:latin typeface="Calibri"/>
              </a:defRPr>
            </a:pPr>
            <a:r>
              <a:t>gurza36.ru</a:t>
            </a:r>
          </a:p>
          <a:p>
            <a:pPr>
              <a:spcAft>
                <a:spcPts val="800"/>
              </a:spcAft>
              <a:defRPr sz="800" b="0">
                <a:solidFill>
                  <a:srgbClr val="F5F7FA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600" b="0">
                <a:solidFill>
                  <a:srgbClr val="919BAF"/>
                </a:solidFill>
                <a:latin typeface="Calibri"/>
              </a:defRPr>
            </a:pPr>
            <a:r>
              <a:t>Телефоны:</a:t>
            </a:r>
          </a:p>
          <a:p>
            <a:pPr>
              <a:spcAft>
                <a:spcPts val="800"/>
              </a:spcAft>
              <a:defRPr sz="2000" b="1">
                <a:solidFill>
                  <a:srgbClr val="F5F7FA"/>
                </a:solidFill>
                <a:latin typeface="Calibri"/>
              </a:defRPr>
            </a:pPr>
            <a:r>
              <a:t>+7 (473) 278-51-47</a:t>
            </a:r>
          </a:p>
          <a:p>
            <a:pPr>
              <a:spcAft>
                <a:spcPts val="800"/>
              </a:spcAft>
              <a:defRPr sz="2000" b="1">
                <a:solidFill>
                  <a:srgbClr val="F5F7FA"/>
                </a:solidFill>
                <a:latin typeface="Calibri"/>
              </a:defRPr>
            </a:pPr>
            <a:r>
              <a:t>+7 (900) 954-43-12</a:t>
            </a:r>
          </a:p>
          <a:p>
            <a:pPr>
              <a:spcAft>
                <a:spcPts val="800"/>
              </a:spcAft>
              <a:defRPr sz="800" b="0">
                <a:solidFill>
                  <a:srgbClr val="F5F7FA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700" b="0">
                <a:solidFill>
                  <a:srgbClr val="F5F7FA"/>
                </a:solidFill>
                <a:latin typeface="Calibri"/>
              </a:defRPr>
            </a:pPr>
            <a:r>
              <a:t>Email: mike1592@yandex.ru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919BAF"/>
                </a:solidFill>
                <a:latin typeface="Calibri"/>
              </a:defRPr>
            </a:pPr>
            <a:r>
              <a:t>394016, г. Воронеж,</a:t>
            </a:r>
          </a:p>
          <a:p>
            <a:pPr>
              <a:spcAft>
                <a:spcPts val="800"/>
              </a:spcAft>
              <a:defRPr sz="1600" b="0">
                <a:solidFill>
                  <a:srgbClr val="919BAF"/>
                </a:solidFill>
                <a:latin typeface="Calibri"/>
              </a:defRPr>
            </a:pPr>
            <a:r>
              <a:t>ул. Солнечная, 17/1, офис 4</a:t>
            </a:r>
          </a:p>
        </p:txBody>
      </p:sp>
      <p:pic>
        <p:nvPicPr>
          <p:cNvPr id="10" name="Picture 9" descr="03-conta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7360"/>
            <a:ext cx="5486400" cy="3429000"/>
          </a:xfrm>
          <a:prstGeom prst="rect">
            <a:avLst/>
          </a:prstGeom>
        </p:spPr>
      </p:pic>
    </p:spTree>
  </p:cSld>
  <p:clrMapOvr>
    <a:masterClrMapping/>
  </p:clrMapOvr>
  <p:transition spd="med" advClick="1">
    <p:fadeThroughBlack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0" y="3200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100" b="1">
                <a:solidFill>
                  <a:srgbClr val="D4AF37"/>
                </a:solidFill>
                <a:latin typeface="Calibri"/>
              </a:defRPr>
            </a:pPr>
            <a:r>
              <a:t>gurza36.ru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58368"/>
            <a:ext cx="11155680" cy="0"/>
          </a:xfrm>
          <a:prstGeom prst="rect">
            <a:avLst/>
          </a:prstGeom>
          <a:ln w="9525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1">
                <a:solidFill>
                  <a:srgbClr val="D4AF37"/>
                </a:solidFill>
                <a:latin typeface="Calibri"/>
              </a:defRPr>
            </a:pPr>
            <a:r>
              <a:t>РУКОВОДСТВО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  <a:defRPr sz="3600" b="1">
                <a:solidFill>
                  <a:srgbClr val="F5F7FA"/>
                </a:solidFill>
                <a:latin typeface="Calibri"/>
              </a:defRPr>
            </a:pPr>
            <a:r>
              <a:t>Самофалов Михаил Иванович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D4AF37"/>
                </a:solidFill>
                <a:latin typeface="Calibri"/>
              </a:defRPr>
            </a:pPr>
            <a:r>
              <a:t>Директор ООО ЧОО «Гюрза»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9144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Готовы обсудить охрану вашего объекта,</a:t>
            </a:r>
          </a:p>
          <a:p>
            <a:pPr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провести экспертную оценку и предложить</a:t>
            </a:r>
          </a:p>
          <a:p>
            <a:pPr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оптимальный вариант охраны под ваш бюджет.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◆  Звоните — проконсультируем и ответим на все вопросы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◆  Выезд на объект для оценки угроз</a:t>
            </a:r>
          </a:p>
          <a:p>
            <a:pPr>
              <a:spcBef>
                <a:spcPts val="1000"/>
              </a:spcBef>
              <a:spcAft>
                <a:spcPts val="600"/>
              </a:spcAft>
              <a:defRPr sz="1800">
                <a:solidFill>
                  <a:srgbClr val="F5F7FA"/>
                </a:solidFill>
                <a:latin typeface="Calibri"/>
              </a:defRPr>
            </a:pPr>
            <a:r>
              <a:t>◆  Гибкие условия: разовые и долгосрочные договоры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04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731520"/>
            <a:ext cx="2377440" cy="23719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29260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400"/>
              </a:spcAft>
              <a:defRPr sz="4800" b="1">
                <a:solidFill>
                  <a:srgbClr val="D4AF37"/>
                </a:solidFill>
                <a:latin typeface="Calibri"/>
              </a:defRPr>
            </a:pPr>
            <a:r>
              <a:t>ЧОО «Гюрза»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0">
                <a:solidFill>
                  <a:srgbClr val="F5F7FA"/>
                </a:solidFill>
                <a:latin typeface="Calibri"/>
              </a:defRPr>
            </a:pPr>
            <a:r>
              <a:t>+7 (473) 278-51-47  ·  +7 (900) 954-43-12</a:t>
            </a:r>
          </a:p>
          <a:p>
            <a:pPr>
              <a:spcAft>
                <a:spcPts val="800"/>
              </a:spcAft>
              <a:defRPr sz="1800" b="0">
                <a:solidFill>
                  <a:srgbClr val="F0D98C"/>
                </a:solidFill>
                <a:latin typeface="Calibri"/>
              </a:defRPr>
            </a:pPr>
            <a:r>
              <a:t>mike1592@yandex.ru  ·  gurza36.ru</a:t>
            </a:r>
          </a:p>
          <a:p>
            <a:pPr>
              <a:spcAft>
                <a:spcPts val="800"/>
              </a:spcAft>
              <a:defRPr sz="1600" b="0">
                <a:solidFill>
                  <a:srgbClr val="919BAF"/>
                </a:solidFill>
                <a:latin typeface="Calibri"/>
              </a:defRPr>
            </a:pPr>
            <a:r>
              <a:t>394016, г. Воронеж, ул. Солнечная, 17/1, офис 4</a:t>
            </a:r>
          </a:p>
        </p:txBody>
      </p:sp>
    </p:spTree>
  </p:cSld>
  <p:clrMapOvr>
    <a:masterClrMapping/>
  </p:clrMapOvr>
  <p:transition spd="med" advClick="1">
    <p:fadeThroughBlack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